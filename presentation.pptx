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Amazon Bedrock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AgentCore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Architecture Review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18288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Architect Perspective  |  March 2026  |  Version 1.0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production infrastructure layer for AI agents at scale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Amazon Bedrock AgentCore?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1887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Managed Agent Infrastructure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7909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is a fully managed infrastructure service from AWS designed to deploy, secure, manage, and monitor AI agents at production scale. GA in July 2025, it provides the </a:t>
            </a:r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"operating system" for agents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framework-agnostic, supporting LangGraph, CrewAI, Strands, AutoGen, or custom code.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54864" cy="100584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Below Bedrock 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 than the fully managed, declarative agent builder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2423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423160"/>
            <a:ext cx="54864" cy="10058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Above Raw Infra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770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over EC2, Lambda, ECS for agent-specific needs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24231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2423160"/>
            <a:ext cx="54864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Alongside Strands SDK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770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the open-source orchestration framework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1920240" cy="10515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3703320"/>
            <a:ext cx="1920240" cy="10515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56032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56032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Regions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1920240" cy="10515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466344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66560" y="3703320"/>
            <a:ext cx="1920240" cy="105156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766560" y="37490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766560" y="4251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Evaluators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modular, independently usable components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1005840"/>
            <a:ext cx="4023360" cy="502920"/>
          </a:xfrm>
          <a:prstGeom prst="rect">
            <a:avLst/>
          </a:prstGeom>
          <a:solidFill>
            <a:srgbClr val="15223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Application (Any Framework)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1783080"/>
            <a:ext cx="2743200" cy="502920"/>
          </a:xfrm>
          <a:prstGeom prst="rect">
            <a:avLst/>
          </a:prstGeom>
          <a:solidFill>
            <a:srgbClr val="1A73E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 Execution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783080"/>
            <a:ext cx="2743200" cy="502920"/>
          </a:xfrm>
          <a:prstGeom prst="rect">
            <a:avLst/>
          </a:prstGeom>
          <a:solidFill>
            <a:srgbClr val="00A3B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 Tool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240280" cy="502920"/>
          </a:xfrm>
          <a:prstGeom prst="rect">
            <a:avLst/>
          </a:prstGeom>
          <a:solidFill>
            <a:srgbClr val="2D7D9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80360" y="2560320"/>
            <a:ext cx="2240280" cy="502920"/>
          </a:xfrm>
          <a:prstGeom prst="rect">
            <a:avLst/>
          </a:prstGeom>
          <a:solidFill>
            <a:srgbClr val="3B6EA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8036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560320"/>
            <a:ext cx="2240280" cy="502920"/>
          </a:xfrm>
          <a:prstGeom prst="rect">
            <a:avLst/>
          </a:prstGeom>
          <a:solidFill>
            <a:srgbClr val="4A90B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0" y="25603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240280" cy="502920"/>
          </a:xfrm>
          <a:prstGeom prst="rect">
            <a:avLst/>
          </a:prstGeom>
          <a:solidFill>
            <a:srgbClr val="5B7FA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Interpreter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0360" y="3200400"/>
            <a:ext cx="2240280" cy="502920"/>
          </a:xfrm>
          <a:prstGeom prst="rect">
            <a:avLst/>
          </a:prstGeom>
          <a:solidFill>
            <a:srgbClr val="6B8EB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8036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Tool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200400"/>
            <a:ext cx="2240280" cy="502920"/>
          </a:xfrm>
          <a:prstGeom prst="rect">
            <a:avLst/>
          </a:prstGeom>
          <a:solidFill>
            <a:srgbClr val="3A8F7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3200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240280" cy="502920"/>
          </a:xfrm>
          <a:prstGeom prst="rect">
            <a:avLst/>
          </a:prstGeom>
          <a:solidFill>
            <a:srgbClr val="7B68A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840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148840" y="420624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8"/>
          <p:cNvSpPr/>
          <p:nvPr/>
        </p:nvSpPr>
        <p:spPr>
          <a:xfrm>
            <a:off x="214884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Agnostic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420624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2" name="Text 30"/>
          <p:cNvSpPr/>
          <p:nvPr/>
        </p:nvSpPr>
        <p:spPr>
          <a:xfrm>
            <a:off x="384048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Default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32120" y="420624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4206240"/>
            <a:ext cx="1554480" cy="411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0" y="42062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Serverless-First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execution environment for AI agents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20116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Firecracker MicroVM Isolation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isolation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agents via lightweight VMs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~125ms cold start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rapid burst scaling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CPU/memory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microVM instance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 container images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via ECR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201168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Multi-Protocol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463040"/>
            <a:ext cx="548640" cy="320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63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321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REST APIs - request/response &amp; streaming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1920240"/>
            <a:ext cx="548640" cy="32004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920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3212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- tool/resource serving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377440"/>
            <a:ext cx="548640" cy="320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377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- multi-agent communication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46120"/>
            <a:ext cx="54864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3192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Auto-Scaling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593592"/>
            <a:ext cx="361188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zero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no charges when idle (true serverless)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scaling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rapid scale-up for traffic spikes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affinity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long-running sessions on same instance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402336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246120"/>
            <a:ext cx="54864" cy="1508760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3192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Networking Modes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593592"/>
            <a:ext cx="37033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Internet-accessible with IAM auth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access to internal resources (DBs, APIs) with full network isolation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tool access layer with semantic discovery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Translation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ALL tools to Model Context Protocol (MCP) interface. REST, GraphQL, gRPC, SDK -- all presented as uniform MCP-compatible tools to agents.</a:t>
            </a:r>
            <a:endParaRPr lang="en-US" sz="10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for every tool.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1371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Tool Selection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Agent describes intent in natural language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Gateway uses embeddings for top-K matching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Only relevant tool schemas returned</a:t>
            </a:r>
            <a:endParaRPr lang="en-US" sz="1050" dirty="0"/>
          </a:p>
          <a:p>
            <a:pPr indent="0" marL="0">
              <a:buNone/>
            </a:pPr>
            <a:r>
              <a:rPr lang="en-US" sz="10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tokens, improves accuracy, scales to 100s of tools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1-Click Managed Integrations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17520"/>
            <a:ext cx="155448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Teams, Gmail, Calendar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48840" y="301752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48840" y="3017520"/>
            <a:ext cx="1554480" cy="36576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21" name="Text 19"/>
          <p:cNvSpPr/>
          <p:nvPr/>
        </p:nvSpPr>
        <p:spPr>
          <a:xfrm>
            <a:off x="224028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4028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GitLab, Jira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301752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0" y="3017520"/>
            <a:ext cx="1554480" cy="36576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Snowflake, Salesforce, HubSpot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301752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3017520"/>
            <a:ext cx="155448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562356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2356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S3, DynamoDB, Lambda, CW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223760" y="3017520"/>
            <a:ext cx="1554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23760" y="3017520"/>
            <a:ext cx="1554480" cy="36576"/>
          </a:xfrm>
          <a:prstGeom prst="rect">
            <a:avLst/>
          </a:prstGeom>
          <a:solidFill>
            <a:srgbClr val="3A8F7D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33832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Brave Search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can also register custom tools via API -- Gateway handles versioning, auth, rate limiting, and error handling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guardrails for agent actions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029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Cedar Policy Language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47091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Cedar (open-source by AWS, used in Amazon Verified Permissions)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policies mathematically provable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evaluation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no performance overhead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authoring</a:t>
            </a:r>
            <a:endParaRPr lang="en-US" sz="105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describe policies in English, auto-compiled to Cedar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60720" y="1005840"/>
            <a:ext cx="2926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005840"/>
            <a:ext cx="54864" cy="8229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078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Enforce Mode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0" y="13533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 are BLOCKED. Agent must find alternatives.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60720" y="1965960"/>
            <a:ext cx="29260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1965960"/>
            <a:ext cx="54864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039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Mode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0" y="2313432"/>
            <a:ext cx="2606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logged but allowed. Test policies before enforcement.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Scope &amp; Granularity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1874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566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Account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in AWS account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3520440"/>
            <a:ext cx="1874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51760" y="3566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agent runtime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520440"/>
            <a:ext cx="1874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566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user session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3520440"/>
            <a:ext cx="18745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3566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3886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tool calls / APIs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enforce at the infrastructure level -- even compromised agent code cannot bypass guardrails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persistence for context across sessions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41732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Short-Term (Working Memory)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session context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&amp; scratchpad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TTL-based expiration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Auto-managed within sessions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1417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Long-Term (Persistent Memory)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03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conversations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facts &amp; user preferences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retrieval strategies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Vector-embedded for semantic 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Strategies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192024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key facts &amp; entities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Research, Q&amp;A agents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29718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0" y="2971800"/>
            <a:ext cx="1920240" cy="36576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interaction summaries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Customer service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9718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71800"/>
            <a:ext cx="1920240" cy="36576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Episodic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interaction sequences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Task-oriented agents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297180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2971800"/>
            <a:ext cx="192024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063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Pref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user preferences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566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Personalization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2793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" y="4553712"/>
            <a:ext cx="7909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synthesize higher-order insights from accumulated memories -- identifying patterns to develop nuanced understanding over time. Organized via User, Agent, Session, and Global namespaces.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authentication for inbound &amp; outbound flows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5544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Inbound 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WHO is calling the agent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Signature V4 (service-to-service)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OIDC (end-user auth via IdPs)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(internal services)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Authenticators (proprietary systems)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155448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Outbound 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03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HOW agents auth with external services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Vault -- KMS-encrypted storage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token refresh flows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management for 3rd parties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credential rotation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Identity Providers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Calendar, Drive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20040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Teams, SharePoint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20040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246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23760" y="3246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Repos, Issues, PRs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Salesforce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3886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384048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42900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3886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Messaging, channels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840480"/>
            <a:ext cx="26517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3886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OIDC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38862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SSO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tokens KMS-encrypted at rest | IAM-governed access | Full CloudTrail audit logging | Never exposed in logs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quality assessment with 13 built-in evaluators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137160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0515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051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051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515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508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15087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2024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Relevance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5087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1508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Utilization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1965960"/>
            <a:ext cx="1371600" cy="36576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19659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92024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Harmfulness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37560" y="19659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Maliciousness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9659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24231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20240" y="24231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2880360"/>
            <a:ext cx="1371600" cy="365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920240" y="28803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920240" y="2880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Correctness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37560" y="28803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337560" y="2880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880360"/>
            <a:ext cx="13258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0" y="2880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Parameter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" y="3520440"/>
            <a:ext cx="54864" cy="1280160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5935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LLM-as-Judge Pattern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40080" y="386791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LLM evaluates primary agent outputs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rubrics with 0-1 normalized scores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alongside scores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evaluators for domain-specific criteria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5204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3440" y="3520440"/>
            <a:ext cx="54864" cy="128016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3593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Mode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46320" y="38679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async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scored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metrics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66560" y="352044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66560" y="3520440"/>
            <a:ext cx="54864" cy="12801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0" name="Text 48"/>
          <p:cNvSpPr/>
          <p:nvPr/>
        </p:nvSpPr>
        <p:spPr>
          <a:xfrm>
            <a:off x="6949440" y="35935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On-Demand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49440" y="3867912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evaluation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agents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 built on OpenTelemetry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OpenTelemetry 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telemetry collection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Datadog, Grafana, Splunk, etc.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ADOT SDK with auto-instrumentation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Agent-specific semantic conventions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1371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 Hierarchy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Trace (request/response cycle)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Span: LLM Inference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Span: Tool Invocation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Span: Memory Retrieval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Span: Policy Evaluation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54864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AgentLatency_p99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&gt; 30s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926080"/>
            <a:ext cx="54864" cy="45720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ToolCallErrorRate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&gt; 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926080"/>
            <a:ext cx="54864" cy="4572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9443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TokenUsage/Session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&gt; 100K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26517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520440"/>
            <a:ext cx="54864" cy="4572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PolicyDenyRate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3749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&gt; 10%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3520440"/>
            <a:ext cx="26517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3520440"/>
            <a:ext cx="54864" cy="457200"/>
          </a:xfrm>
          <a:prstGeom prst="rect">
            <a:avLst/>
          </a:prstGeom>
          <a:solidFill>
            <a:srgbClr val="7B68AE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HallucinationScore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29000" y="3749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B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&lt; 0.7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520440"/>
            <a:ext cx="26517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3520440"/>
            <a:ext cx="54864" cy="457200"/>
          </a:xfrm>
          <a:prstGeom prst="rect">
            <a:avLst/>
          </a:prstGeom>
          <a:solidFill>
            <a:srgbClr val="3A8F7D"/>
          </a:solidFill>
          <a:ln/>
        </p:spPr>
      </p:sp>
      <p:sp>
        <p:nvSpPr>
          <p:cNvPr id="37" name="Text 35"/>
          <p:cNvSpPr/>
          <p:nvPr/>
        </p:nvSpPr>
        <p:spPr>
          <a:xfrm>
            <a:off x="626364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MemoryLatency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37490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&gt; 500ms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51960"/>
            <a:ext cx="54864" cy="5943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32511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Replay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4599432"/>
            <a:ext cx="7909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an agent's complete decision process -- every LLM call, tool invocation, policy decision, and memory retrieval for compliance auditing and debugging.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Interpreter &amp; Browser Tool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tools for dynamic execution and web interaction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Interpreter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54864" cy="146304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Sandbox Execution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Container-based isolation per session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JavaScript, Shell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Pre-installed: pandas, numpy, matplotlib, scikit-learn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integration for file I/O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modes: Isolated (default) or Enabled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63240"/>
            <a:ext cx="54864" cy="68580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107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analysis, visualization, math computation, file transformation, ML inference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Tool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63040"/>
            <a:ext cx="54864" cy="146304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536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Headless Browser Automation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81051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Playwright (Chromium)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Navigate, click, fill forms, extract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 support &amp; file handling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Bot Auth via Identity Token Vault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CAPTCHA reduction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63240"/>
            <a:ext cx="54864" cy="685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410712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</a:t>
            </a:r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scraping, form automation, research, interacting with apps lacking APIs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Both tools are registered as managed tools in Gateway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8B95A5"/>
                </a:solidFill>
              </a:rPr>
              <a:t>Agents discover and invoke them through the standard Gateway interface. All actions are fully traced via Observability with individual spans for each operation.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Support: MCP &amp; A2A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Multi-protocol foundation for the multi-agent ecosystem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21031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Context Protocol (MCP)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Anthropic -- open standard for tool/resource interfaces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MCP Client: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any MCP-compatible server as a tool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translates non-MCP tools to MCP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MCP Server: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agents as MCP servers via Runtime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tool schemas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2103120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Agent-to-Agent Protocol (A2A)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033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Google -- structured multi-agent communication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Discoverable capability descriptions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complete, cancel lifecycle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Push Notifications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&amp; async callbacks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91840"/>
            <a:ext cx="54864" cy="15087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6499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Enabled Multi-Agent Architectures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182880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delegates to specialists via A2A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51760" y="3703320"/>
            <a:ext cx="182880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agents, each output feeds the next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703320"/>
            <a:ext cx="182880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Consensus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solve same problem; judge scores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75120" y="3703320"/>
            <a:ext cx="1828800" cy="868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Human-in-Loop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requires approval for high-impact actions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Ecosystem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vs. Bedrock Agents vs. Strands Agents SDK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2860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(declarative)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(infrastructure)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(code)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Lock-in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(Bedrock-native)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(any framework)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(Python)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managed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Self-managed / 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prototyping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models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Per-compute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(free)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4160520"/>
            <a:ext cx="54864" cy="6858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233672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Complementary, Not Competitive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507992"/>
            <a:ext cx="7909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SDK (orchestration) + AgentCore (infrastructure) = Production-ready custom agents. Bedrock Agents (simple) + AgentCore Gateway (tools) = Hybrid architecture.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&amp; Availability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Consumption-based, pay-per-use across 9 GA regions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vCPU-sec + memory-sec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to zero; no idle charges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tool invocation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connector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policy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Sub-cent per 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operation + 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per GB-month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auth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vault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evaluation 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LLM billed separately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Interpreter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execution-second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+ S3 for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73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session-minute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Chromium 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Regions (9)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20624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48840" y="420624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1" name="Text 8"/>
          <p:cNvSpPr/>
          <p:nvPr/>
        </p:nvSpPr>
        <p:spPr>
          <a:xfrm>
            <a:off x="214884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us-east-2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0" y="420624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3" name="Text 10"/>
          <p:cNvSpPr/>
          <p:nvPr/>
        </p:nvSpPr>
        <p:spPr>
          <a:xfrm>
            <a:off x="38404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us-west-2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32120" y="420624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5" name="Text 12"/>
          <p:cNvSpPr/>
          <p:nvPr/>
        </p:nvSpPr>
        <p:spPr>
          <a:xfrm>
            <a:off x="553212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eu-central-1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223760" y="420624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7" name="Text 14"/>
          <p:cNvSpPr/>
          <p:nvPr/>
        </p:nvSpPr>
        <p:spPr>
          <a:xfrm>
            <a:off x="722376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eu-west-1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eu-west-2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148840" y="457200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21" name="Text 18"/>
          <p:cNvSpPr/>
          <p:nvPr/>
        </p:nvSpPr>
        <p:spPr>
          <a:xfrm>
            <a:off x="214884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ap-northeast-1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0" y="457200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23" name="Text 20"/>
          <p:cNvSpPr/>
          <p:nvPr/>
        </p:nvSpPr>
        <p:spPr>
          <a:xfrm>
            <a:off x="384048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ap-southeast-1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532120" y="4572000"/>
            <a:ext cx="1554480" cy="27432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25" name="Text 22"/>
          <p:cNvSpPr/>
          <p:nvPr/>
        </p:nvSpPr>
        <p:spPr>
          <a:xfrm>
            <a:off x="5532120" y="4572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ap-southeast-2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 &amp; Best Practices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security, and operational guidance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54864" cy="22860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789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53312"/>
            <a:ext cx="3611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Gateway + Identity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value regardless of runtime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Policy Early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Mode first, then Enforce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Memory Strategically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short-term, add long-term for clear use cases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as CI/CD Gates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score thresholds before promoting versions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from Day One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retroactively trace what wasn't instrumented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54864" cy="14630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78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5331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Cedar policies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Runtime per sensitivity level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credential rotation via Identity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CloudTrail audits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mode for sensitive resources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6060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606040"/>
            <a:ext cx="54864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679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95351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on key metrics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agents with container tags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 suite before every deploy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token usage + set budget alerts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failure -- retry, fallback, escalate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297680"/>
            <a:ext cx="54864" cy="5486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45152"/>
            <a:ext cx="7909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what solves your pain (Runtime + Gateway + Identity), then expand to Memory, Policy, Evaluations as agents mature.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3B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infrastructure should be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decoupled from agent logic.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1828800" cy="36576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Just as Kubernetes decoupled application deployment from infrastructure management, AgentCore decouples agent deployment from execution, security, and monitoring.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is not a replacement for agent frameworks --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production foundation they've been missing.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Bedrock AgentCore</dc:title>
  <dc:subject>PptxGenJS Presentation</dc:subject>
  <dc:creator>GenAI Architect</dc:creator>
  <cp:lastModifiedBy>GenAI Architect</cp:lastModifiedBy>
  <cp:revision>1</cp:revision>
  <dcterms:created xsi:type="dcterms:W3CDTF">2026-03-20T04:17:14Z</dcterms:created>
  <dcterms:modified xsi:type="dcterms:W3CDTF">2026-03-20T04:17:14Z</dcterms:modified>
</cp:coreProperties>
</file>